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6858000" cy="9144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2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5854" autoAdjust="0"/>
    <p:restoredTop sz="94660"/>
  </p:normalViewPr>
  <p:slideViewPr>
    <p:cSldViewPr snapToGrid="0">
      <p:cViewPr>
        <p:scale>
          <a:sx n="140" d="100"/>
          <a:sy n="140" d="100"/>
        </p:scale>
        <p:origin x="2478" y="-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7991F-4061-4A9D-9683-0FACA222756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9E6D7-52D7-43E5-BFA1-7039AEB537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547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7991F-4061-4A9D-9683-0FACA222756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9E6D7-52D7-43E5-BFA1-7039AEB537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773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7991F-4061-4A9D-9683-0FACA222756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9E6D7-52D7-43E5-BFA1-7039AEB537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7731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7991F-4061-4A9D-9683-0FACA222756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9E6D7-52D7-43E5-BFA1-7039AEB537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0582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7991F-4061-4A9D-9683-0FACA222756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9E6D7-52D7-43E5-BFA1-7039AEB537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9802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7991F-4061-4A9D-9683-0FACA222756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9E6D7-52D7-43E5-BFA1-7039AEB537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610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7991F-4061-4A9D-9683-0FACA222756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9E6D7-52D7-43E5-BFA1-7039AEB537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1580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7991F-4061-4A9D-9683-0FACA222756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9E6D7-52D7-43E5-BFA1-7039AEB537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07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7991F-4061-4A9D-9683-0FACA222756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9E6D7-52D7-43E5-BFA1-7039AEB537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2208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7991F-4061-4A9D-9683-0FACA222756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9E6D7-52D7-43E5-BFA1-7039AEB537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001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7991F-4061-4A9D-9683-0FACA222756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9E6D7-52D7-43E5-BFA1-7039AEB537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93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87991F-4061-4A9D-9683-0FACA222756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F9E6D7-52D7-43E5-BFA1-7039AEB537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599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0D69BEA0-1AA6-4811-A913-11BACFCE1362}"/>
              </a:ext>
            </a:extLst>
          </p:cNvPr>
          <p:cNvGrpSpPr/>
          <p:nvPr/>
        </p:nvGrpSpPr>
        <p:grpSpPr>
          <a:xfrm>
            <a:off x="711244" y="566055"/>
            <a:ext cx="5065362" cy="5281768"/>
            <a:chOff x="728331" y="642255"/>
            <a:chExt cx="5065362" cy="5281768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92740E7E-22F7-44E3-A665-ABF4504AD917}"/>
                </a:ext>
              </a:extLst>
            </p:cNvPr>
            <p:cNvSpPr/>
            <p:nvPr/>
          </p:nvSpPr>
          <p:spPr>
            <a:xfrm>
              <a:off x="2639135" y="4744019"/>
              <a:ext cx="1457564" cy="458542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13" dirty="0"/>
                <a:t>220-entry integer register file</a:t>
              </a: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4021BB2D-848D-4810-8916-050FBF352CB9}"/>
                </a:ext>
              </a:extLst>
            </p:cNvPr>
            <p:cNvSpPr/>
            <p:nvPr/>
          </p:nvSpPr>
          <p:spPr>
            <a:xfrm>
              <a:off x="772719" y="4744019"/>
              <a:ext cx="1056517" cy="472176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13" dirty="0"/>
                <a:t>160-entry FP/vector register file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4BF6F54-9DE9-4E93-B20A-60AFAAD34EDC}"/>
                </a:ext>
              </a:extLst>
            </p:cNvPr>
            <p:cNvSpPr/>
            <p:nvPr/>
          </p:nvSpPr>
          <p:spPr>
            <a:xfrm>
              <a:off x="3282359" y="1413313"/>
              <a:ext cx="1885787" cy="777395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13" dirty="0"/>
                <a:t>2.5MB L2 private cache</a:t>
              </a:r>
            </a:p>
            <a:p>
              <a:pPr algn="ctr"/>
              <a:r>
                <a:rPr lang="en-US" sz="788" dirty="0"/>
                <a:t>13-cycle latency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D0B2709-7E26-42A0-8754-70E04E55D049}"/>
                </a:ext>
              </a:extLst>
            </p:cNvPr>
            <p:cNvSpPr/>
            <p:nvPr/>
          </p:nvSpPr>
          <p:spPr>
            <a:xfrm>
              <a:off x="1233745" y="659370"/>
              <a:ext cx="825221" cy="401307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13" dirty="0"/>
                <a:t>Branch predictor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339634D-08F8-4FE2-B2D5-A0AA88921554}"/>
                </a:ext>
              </a:extLst>
            </p:cNvPr>
            <p:cNvSpPr/>
            <p:nvPr/>
          </p:nvSpPr>
          <p:spPr>
            <a:xfrm>
              <a:off x="1096955" y="1240978"/>
              <a:ext cx="1056948" cy="585872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13" dirty="0"/>
                <a:t>32KB L1 instruction cache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904D538-4489-43FD-99EB-CF0E119484B8}"/>
                </a:ext>
              </a:extLst>
            </p:cNvPr>
            <p:cNvSpPr/>
            <p:nvPr/>
          </p:nvSpPr>
          <p:spPr>
            <a:xfrm>
              <a:off x="1225437" y="2087272"/>
              <a:ext cx="825221" cy="672612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13" dirty="0"/>
                <a:t>Decode</a:t>
              </a:r>
            </a:p>
            <a:p>
              <a:pPr algn="ctr"/>
              <a:r>
                <a:rPr lang="en-US" sz="788" dirty="0"/>
                <a:t>8</a:t>
              </a:r>
              <a:r>
                <a:rPr lang="en-US" sz="788"/>
                <a:t> </a:t>
              </a:r>
              <a:r>
                <a:rPr lang="en-US" sz="788" dirty="0"/>
                <a:t>instructions </a:t>
              </a:r>
              <a:r>
                <a:rPr lang="en-US" sz="788">
                  <a:sym typeface="Wingdings" panose="05000000000000000000" pitchFamily="2" charset="2"/>
                </a:rPr>
                <a:t> </a:t>
              </a:r>
              <a:r>
                <a:rPr lang="en-US" sz="788" dirty="0">
                  <a:sym typeface="Wingdings" panose="05000000000000000000" pitchFamily="2" charset="2"/>
                </a:rPr>
                <a:t>8</a:t>
              </a:r>
              <a:r>
                <a:rPr lang="en-US" sz="788"/>
                <a:t> </a:t>
              </a:r>
              <a:r>
                <a:rPr lang="en-US" sz="788" dirty="0"/>
                <a:t>micro-ops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D697ED8-0FDD-4B07-82A5-5994C481EB59}"/>
                </a:ext>
              </a:extLst>
            </p:cNvPr>
            <p:cNvSpPr/>
            <p:nvPr/>
          </p:nvSpPr>
          <p:spPr>
            <a:xfrm>
              <a:off x="4180805" y="4854503"/>
              <a:ext cx="1612888" cy="672612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13" dirty="0"/>
                <a:t>64KB L1 data cache</a:t>
              </a:r>
            </a:p>
            <a:p>
              <a:pPr algn="ctr"/>
              <a:r>
                <a:rPr lang="en-US" sz="788" dirty="0"/>
                <a:t>4-cycle latency INT</a:t>
              </a:r>
            </a:p>
            <a:p>
              <a:pPr algn="ctr"/>
              <a:r>
                <a:rPr lang="en-US" sz="788" dirty="0"/>
                <a:t>5-cycle latency FP</a:t>
              </a:r>
            </a:p>
            <a:p>
              <a:pPr algn="ctr"/>
              <a:r>
                <a:rPr lang="en-US" sz="788" dirty="0"/>
                <a:t>2 x 128-bit loads per cycle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EA65F876-E22D-4114-BC9E-E0917A0D403E}"/>
                </a:ext>
              </a:extLst>
            </p:cNvPr>
            <p:cNvSpPr/>
            <p:nvPr/>
          </p:nvSpPr>
          <p:spPr>
            <a:xfrm>
              <a:off x="774733" y="5319859"/>
              <a:ext cx="3321966" cy="604164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13" dirty="0"/>
                <a:t>256-entry reorder buffer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86E31685-42A4-4872-94C4-865B1150F292}"/>
                </a:ext>
              </a:extLst>
            </p:cNvPr>
            <p:cNvSpPr/>
            <p:nvPr/>
          </p:nvSpPr>
          <p:spPr>
            <a:xfrm>
              <a:off x="3168290" y="642255"/>
              <a:ext cx="2113923" cy="391415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13" dirty="0"/>
                <a:t>SOC interface</a:t>
              </a:r>
            </a:p>
            <a:p>
              <a:pPr algn="ctr"/>
              <a:r>
                <a:rPr lang="en-US" sz="788" dirty="0"/>
                <a:t>64 simultaneous memory requests</a:t>
              </a:r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4545752A-907B-44BF-9780-6376410BA2B2}"/>
                </a:ext>
              </a:extLst>
            </p:cNvPr>
            <p:cNvSpPr/>
            <p:nvPr/>
          </p:nvSpPr>
          <p:spPr>
            <a:xfrm>
              <a:off x="2181474" y="1233604"/>
              <a:ext cx="791218" cy="585871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013" dirty="0"/>
                <a:t>L1 ITLB</a:t>
              </a:r>
            </a:p>
            <a:p>
              <a:pPr algn="ctr"/>
              <a:r>
                <a:rPr lang="en-US" sz="700" dirty="0"/>
                <a:t>Universal 64-entry</a:t>
              </a:r>
            </a:p>
          </p:txBody>
        </p:sp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DA0C0993-2783-4770-ADDA-7B39F8F1F0CC}"/>
                </a:ext>
              </a:extLst>
            </p:cNvPr>
            <p:cNvSpPr/>
            <p:nvPr/>
          </p:nvSpPr>
          <p:spPr>
            <a:xfrm>
              <a:off x="4180804" y="5522540"/>
              <a:ext cx="1612887" cy="401483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013" dirty="0"/>
                <a:t>L1 DTLB</a:t>
              </a:r>
            </a:p>
            <a:p>
              <a:pPr algn="ctr"/>
              <a:r>
                <a:rPr lang="en-US" sz="700" dirty="0"/>
                <a:t>Universal 64-entry</a:t>
              </a:r>
            </a:p>
          </p:txBody>
        </p:sp>
        <p:cxnSp>
          <p:nvCxnSpPr>
            <p:cNvPr id="174" name="Straight Arrow Connector 173">
              <a:extLst>
                <a:ext uri="{FF2B5EF4-FFF2-40B4-BE49-F238E27FC236}">
                  <a16:creationId xmlns:a16="http://schemas.microsoft.com/office/drawing/2014/main" id="{12362C1E-7D5D-40A2-A3E9-165A59E2650A}"/>
                </a:ext>
              </a:extLst>
            </p:cNvPr>
            <p:cNvCxnSpPr>
              <a:cxnSpLocks/>
              <a:stCxn id="6" idx="2"/>
            </p:cNvCxnSpPr>
            <p:nvPr/>
          </p:nvCxnSpPr>
          <p:spPr>
            <a:xfrm>
              <a:off x="1646356" y="1060677"/>
              <a:ext cx="0" cy="19471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Arrow Connector 180">
              <a:extLst>
                <a:ext uri="{FF2B5EF4-FFF2-40B4-BE49-F238E27FC236}">
                  <a16:creationId xmlns:a16="http://schemas.microsoft.com/office/drawing/2014/main" id="{3B7465B8-C5A1-43B0-9380-836894EDC2B7}"/>
                </a:ext>
              </a:extLst>
            </p:cNvPr>
            <p:cNvCxnSpPr>
              <a:cxnSpLocks/>
            </p:cNvCxnSpPr>
            <p:nvPr/>
          </p:nvCxnSpPr>
          <p:spPr>
            <a:xfrm>
              <a:off x="1630773" y="1818222"/>
              <a:ext cx="4" cy="26042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Arrow Connector 182">
              <a:extLst>
                <a:ext uri="{FF2B5EF4-FFF2-40B4-BE49-F238E27FC236}">
                  <a16:creationId xmlns:a16="http://schemas.microsoft.com/office/drawing/2014/main" id="{37AEC546-D117-434A-8431-0E493A39DB37}"/>
                </a:ext>
              </a:extLst>
            </p:cNvPr>
            <p:cNvCxnSpPr>
              <a:cxnSpLocks/>
              <a:stCxn id="8" idx="2"/>
            </p:cNvCxnSpPr>
            <p:nvPr/>
          </p:nvCxnSpPr>
          <p:spPr>
            <a:xfrm flipH="1">
              <a:off x="1638044" y="2759884"/>
              <a:ext cx="4" cy="17469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Arrow Connector 184">
              <a:extLst>
                <a:ext uri="{FF2B5EF4-FFF2-40B4-BE49-F238E27FC236}">
                  <a16:creationId xmlns:a16="http://schemas.microsoft.com/office/drawing/2014/main" id="{B7A58207-6EAA-4E03-9AC0-046A2F12F272}"/>
                </a:ext>
              </a:extLst>
            </p:cNvPr>
            <p:cNvCxnSpPr>
              <a:cxnSpLocks/>
            </p:cNvCxnSpPr>
            <p:nvPr/>
          </p:nvCxnSpPr>
          <p:spPr>
            <a:xfrm>
              <a:off x="943776" y="3592821"/>
              <a:ext cx="0" cy="32010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Arrow Connector 185">
              <a:extLst>
                <a:ext uri="{FF2B5EF4-FFF2-40B4-BE49-F238E27FC236}">
                  <a16:creationId xmlns:a16="http://schemas.microsoft.com/office/drawing/2014/main" id="{40143475-5959-41CF-97D3-BDEC386CCFE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26237" y="3592821"/>
              <a:ext cx="7192" cy="31299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Arrow Connector 186">
              <a:extLst>
                <a:ext uri="{FF2B5EF4-FFF2-40B4-BE49-F238E27FC236}">
                  <a16:creationId xmlns:a16="http://schemas.microsoft.com/office/drawing/2014/main" id="{E172ECF3-7CE0-4D42-B8EB-FB67ABCDE0BC}"/>
                </a:ext>
              </a:extLst>
            </p:cNvPr>
            <p:cNvCxnSpPr>
              <a:cxnSpLocks/>
            </p:cNvCxnSpPr>
            <p:nvPr/>
          </p:nvCxnSpPr>
          <p:spPr>
            <a:xfrm>
              <a:off x="2147158" y="3592250"/>
              <a:ext cx="0" cy="33572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Arrow Connector 187">
              <a:extLst>
                <a:ext uri="{FF2B5EF4-FFF2-40B4-BE49-F238E27FC236}">
                  <a16:creationId xmlns:a16="http://schemas.microsoft.com/office/drawing/2014/main" id="{46E94914-5A23-42EA-ADC2-DA76642286B7}"/>
                </a:ext>
              </a:extLst>
            </p:cNvPr>
            <p:cNvCxnSpPr>
              <a:cxnSpLocks/>
            </p:cNvCxnSpPr>
            <p:nvPr/>
          </p:nvCxnSpPr>
          <p:spPr>
            <a:xfrm>
              <a:off x="2605575" y="3592250"/>
              <a:ext cx="0" cy="32362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Arrow Connector 189">
              <a:extLst>
                <a:ext uri="{FF2B5EF4-FFF2-40B4-BE49-F238E27FC236}">
                  <a16:creationId xmlns:a16="http://schemas.microsoft.com/office/drawing/2014/main" id="{273C2551-2568-4B78-8D24-A3E5371D10A7}"/>
                </a:ext>
              </a:extLst>
            </p:cNvPr>
            <p:cNvCxnSpPr>
              <a:cxnSpLocks/>
            </p:cNvCxnSpPr>
            <p:nvPr/>
          </p:nvCxnSpPr>
          <p:spPr>
            <a:xfrm>
              <a:off x="3460403" y="3592250"/>
              <a:ext cx="0" cy="31927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Arrow Connector 190">
              <a:extLst>
                <a:ext uri="{FF2B5EF4-FFF2-40B4-BE49-F238E27FC236}">
                  <a16:creationId xmlns:a16="http://schemas.microsoft.com/office/drawing/2014/main" id="{D55E5003-B4C0-4A08-8ECC-F1EA3641A21C}"/>
                </a:ext>
              </a:extLst>
            </p:cNvPr>
            <p:cNvCxnSpPr>
              <a:cxnSpLocks/>
            </p:cNvCxnSpPr>
            <p:nvPr/>
          </p:nvCxnSpPr>
          <p:spPr>
            <a:xfrm>
              <a:off x="3902941" y="3592250"/>
              <a:ext cx="0" cy="30910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Arrow Connector 191">
              <a:extLst>
                <a:ext uri="{FF2B5EF4-FFF2-40B4-BE49-F238E27FC236}">
                  <a16:creationId xmlns:a16="http://schemas.microsoft.com/office/drawing/2014/main" id="{A473AC76-7958-4A64-9C75-4036A7DC9DC0}"/>
                </a:ext>
              </a:extLst>
            </p:cNvPr>
            <p:cNvCxnSpPr>
              <a:cxnSpLocks/>
              <a:endCxn id="17" idx="0"/>
            </p:cNvCxnSpPr>
            <p:nvPr/>
          </p:nvCxnSpPr>
          <p:spPr>
            <a:xfrm>
              <a:off x="5168178" y="3610020"/>
              <a:ext cx="6014" cy="29396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Arrow Connector 192">
              <a:extLst>
                <a:ext uri="{FF2B5EF4-FFF2-40B4-BE49-F238E27FC236}">
                  <a16:creationId xmlns:a16="http://schemas.microsoft.com/office/drawing/2014/main" id="{185C832C-C7B7-4DA4-8C2E-C45922C1F55E}"/>
                </a:ext>
              </a:extLst>
            </p:cNvPr>
            <p:cNvCxnSpPr>
              <a:cxnSpLocks/>
            </p:cNvCxnSpPr>
            <p:nvPr/>
          </p:nvCxnSpPr>
          <p:spPr>
            <a:xfrm>
              <a:off x="4357960" y="3592250"/>
              <a:ext cx="0" cy="32362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Arrow Connector 193">
              <a:extLst>
                <a:ext uri="{FF2B5EF4-FFF2-40B4-BE49-F238E27FC236}">
                  <a16:creationId xmlns:a16="http://schemas.microsoft.com/office/drawing/2014/main" id="{F3780453-E09A-4F80-9868-9BBB52DC4F58}"/>
                </a:ext>
              </a:extLst>
            </p:cNvPr>
            <p:cNvCxnSpPr>
              <a:cxnSpLocks/>
            </p:cNvCxnSpPr>
            <p:nvPr/>
          </p:nvCxnSpPr>
          <p:spPr>
            <a:xfrm>
              <a:off x="5580078" y="3610020"/>
              <a:ext cx="0" cy="29092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Arrow Connector 197">
              <a:extLst>
                <a:ext uri="{FF2B5EF4-FFF2-40B4-BE49-F238E27FC236}">
                  <a16:creationId xmlns:a16="http://schemas.microsoft.com/office/drawing/2014/main" id="{4B8E0D3B-C371-499A-B640-C29C0DEC4A83}"/>
                </a:ext>
              </a:extLst>
            </p:cNvPr>
            <p:cNvCxnSpPr>
              <a:cxnSpLocks/>
              <a:stCxn id="156" idx="2"/>
              <a:endCxn id="23" idx="1"/>
            </p:cNvCxnSpPr>
            <p:nvPr/>
          </p:nvCxnSpPr>
          <p:spPr>
            <a:xfrm rot="16200000" flipH="1">
              <a:off x="2734670" y="1661888"/>
              <a:ext cx="740986" cy="1056160"/>
            </a:xfrm>
            <a:prstGeom prst="bentConnector2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Arrow Connector 200">
              <a:extLst>
                <a:ext uri="{FF2B5EF4-FFF2-40B4-BE49-F238E27FC236}">
                  <a16:creationId xmlns:a16="http://schemas.microsoft.com/office/drawing/2014/main" id="{44C96084-745C-4D27-A1FF-B74B2C916C36}"/>
                </a:ext>
              </a:extLst>
            </p:cNvPr>
            <p:cNvCxnSpPr>
              <a:cxnSpLocks/>
              <a:stCxn id="3" idx="0"/>
              <a:endCxn id="39" idx="2"/>
            </p:cNvCxnSpPr>
            <p:nvPr/>
          </p:nvCxnSpPr>
          <p:spPr>
            <a:xfrm flipV="1">
              <a:off x="4225244" y="1033670"/>
              <a:ext cx="8" cy="17523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Connector: Elbow 203">
              <a:extLst>
                <a:ext uri="{FF2B5EF4-FFF2-40B4-BE49-F238E27FC236}">
                  <a16:creationId xmlns:a16="http://schemas.microsoft.com/office/drawing/2014/main" id="{389BCF31-AD0A-463E-BEC8-E118FE8677D4}"/>
                </a:ext>
              </a:extLst>
            </p:cNvPr>
            <p:cNvCxnSpPr>
              <a:cxnSpLocks/>
              <a:stCxn id="19" idx="3"/>
              <a:endCxn id="5" idx="3"/>
            </p:cNvCxnSpPr>
            <p:nvPr/>
          </p:nvCxnSpPr>
          <p:spPr>
            <a:xfrm flipH="1" flipV="1">
              <a:off x="5168146" y="1802011"/>
              <a:ext cx="625547" cy="3388798"/>
            </a:xfrm>
            <a:prstGeom prst="bentConnector3">
              <a:avLst>
                <a:gd name="adj1" fmla="val -36544"/>
              </a:avLst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ECE02FEE-D37F-46C6-8630-B24CEB0B2826}"/>
                </a:ext>
              </a:extLst>
            </p:cNvPr>
            <p:cNvCxnSpPr>
              <a:cxnSpLocks/>
            </p:cNvCxnSpPr>
            <p:nvPr/>
          </p:nvCxnSpPr>
          <p:spPr>
            <a:xfrm>
              <a:off x="3902941" y="4441676"/>
              <a:ext cx="0" cy="19869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6CF6190E-49C6-4444-B70E-D760F86DB09B}"/>
                </a:ext>
              </a:extLst>
            </p:cNvPr>
            <p:cNvCxnSpPr>
              <a:cxnSpLocks/>
              <a:stCxn id="77" idx="2"/>
            </p:cNvCxnSpPr>
            <p:nvPr/>
          </p:nvCxnSpPr>
          <p:spPr>
            <a:xfrm flipH="1">
              <a:off x="2595229" y="4428825"/>
              <a:ext cx="4100" cy="21639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>
              <a:extLst>
                <a:ext uri="{FF2B5EF4-FFF2-40B4-BE49-F238E27FC236}">
                  <a16:creationId xmlns:a16="http://schemas.microsoft.com/office/drawing/2014/main" id="{4B352CEB-1D61-4247-A40F-AD74BA4C45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3776" y="4447056"/>
              <a:ext cx="0" cy="19824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>
              <a:extLst>
                <a:ext uri="{FF2B5EF4-FFF2-40B4-BE49-F238E27FC236}">
                  <a16:creationId xmlns:a16="http://schemas.microsoft.com/office/drawing/2014/main" id="{01B547FA-CFEA-4D10-B981-1F73550D73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47158" y="4426605"/>
              <a:ext cx="0" cy="21861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>
              <a:extLst>
                <a:ext uri="{FF2B5EF4-FFF2-40B4-BE49-F238E27FC236}">
                  <a16:creationId xmlns:a16="http://schemas.microsoft.com/office/drawing/2014/main" id="{8A9A0544-18B5-4BF5-AC7C-D524EBDAF25F}"/>
                </a:ext>
              </a:extLst>
            </p:cNvPr>
            <p:cNvCxnSpPr>
              <a:cxnSpLocks/>
              <a:stCxn id="16" idx="2"/>
            </p:cNvCxnSpPr>
            <p:nvPr/>
          </p:nvCxnSpPr>
          <p:spPr>
            <a:xfrm>
              <a:off x="4772003" y="4430627"/>
              <a:ext cx="0" cy="21999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Arrow Connector 272">
              <a:extLst>
                <a:ext uri="{FF2B5EF4-FFF2-40B4-BE49-F238E27FC236}">
                  <a16:creationId xmlns:a16="http://schemas.microsoft.com/office/drawing/2014/main" id="{F8C600C1-3B45-48C5-934B-364C87C789F6}"/>
                </a:ext>
              </a:extLst>
            </p:cNvPr>
            <p:cNvCxnSpPr>
              <a:cxnSpLocks/>
              <a:stCxn id="9" idx="2"/>
              <a:endCxn id="266" idx="0"/>
            </p:cNvCxnSpPr>
            <p:nvPr/>
          </p:nvCxnSpPr>
          <p:spPr>
            <a:xfrm>
              <a:off x="1038080" y="3592821"/>
              <a:ext cx="299922" cy="32036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Straight Arrow Connector 282">
              <a:extLst>
                <a:ext uri="{FF2B5EF4-FFF2-40B4-BE49-F238E27FC236}">
                  <a16:creationId xmlns:a16="http://schemas.microsoft.com/office/drawing/2014/main" id="{F708E1A6-A4AC-4563-B5B8-3E2EC53986B4}"/>
                </a:ext>
              </a:extLst>
            </p:cNvPr>
            <p:cNvCxnSpPr>
              <a:cxnSpLocks/>
              <a:stCxn id="61" idx="2"/>
              <a:endCxn id="266" idx="0"/>
            </p:cNvCxnSpPr>
            <p:nvPr/>
          </p:nvCxnSpPr>
          <p:spPr>
            <a:xfrm flipH="1">
              <a:off x="1338002" y="3594046"/>
              <a:ext cx="268718" cy="31913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Straight Connector 290">
              <a:extLst>
                <a:ext uri="{FF2B5EF4-FFF2-40B4-BE49-F238E27FC236}">
                  <a16:creationId xmlns:a16="http://schemas.microsoft.com/office/drawing/2014/main" id="{28A92ECA-5A0B-41DA-B81B-25D1BA7D1735}"/>
                </a:ext>
              </a:extLst>
            </p:cNvPr>
            <p:cNvCxnSpPr>
              <a:cxnSpLocks/>
            </p:cNvCxnSpPr>
            <p:nvPr/>
          </p:nvCxnSpPr>
          <p:spPr>
            <a:xfrm>
              <a:off x="1338002" y="4442493"/>
              <a:ext cx="0" cy="20632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>
              <a:extLst>
                <a:ext uri="{FF2B5EF4-FFF2-40B4-BE49-F238E27FC236}">
                  <a16:creationId xmlns:a16="http://schemas.microsoft.com/office/drawing/2014/main" id="{355D747D-9D07-4CA1-A253-D6EE104A61A4}"/>
                </a:ext>
              </a:extLst>
            </p:cNvPr>
            <p:cNvCxnSpPr>
              <a:cxnSpLocks/>
            </p:cNvCxnSpPr>
            <p:nvPr/>
          </p:nvCxnSpPr>
          <p:spPr>
            <a:xfrm>
              <a:off x="1734688" y="4438584"/>
              <a:ext cx="0" cy="21023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B20D86D3-10DC-4F17-8BCF-DCAA461BC2A6}"/>
                </a:ext>
              </a:extLst>
            </p:cNvPr>
            <p:cNvGrpSpPr/>
            <p:nvPr/>
          </p:nvGrpSpPr>
          <p:grpSpPr>
            <a:xfrm>
              <a:off x="774734" y="3900949"/>
              <a:ext cx="4983345" cy="539435"/>
              <a:chOff x="774734" y="3900949"/>
              <a:chExt cx="4983345" cy="539435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70CAFDF7-7A78-403D-BBA8-3973E570B81B}"/>
                  </a:ext>
                </a:extLst>
              </p:cNvPr>
              <p:cNvSpPr/>
              <p:nvPr/>
            </p:nvSpPr>
            <p:spPr>
              <a:xfrm>
                <a:off x="774734" y="3913181"/>
                <a:ext cx="338570" cy="525654"/>
              </a:xfrm>
              <a:prstGeom prst="rect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000" dirty="0"/>
                  <a:t>FP exec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112FE186-8ACF-4E2D-8E93-F0C2FE4239DD}"/>
                  </a:ext>
                </a:extLst>
              </p:cNvPr>
              <p:cNvSpPr/>
              <p:nvPr/>
            </p:nvSpPr>
            <p:spPr>
              <a:xfrm>
                <a:off x="4180805" y="3909013"/>
                <a:ext cx="354310" cy="525655"/>
              </a:xfrm>
              <a:prstGeom prst="rect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000" dirty="0"/>
                  <a:t>Load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E2974E51-2FD7-4181-BE91-5E6CF5C713E3}"/>
                  </a:ext>
                </a:extLst>
              </p:cNvPr>
              <p:cNvSpPr/>
              <p:nvPr/>
            </p:nvSpPr>
            <p:spPr>
              <a:xfrm>
                <a:off x="4593309" y="3904972"/>
                <a:ext cx="357388" cy="525655"/>
              </a:xfrm>
              <a:prstGeom prst="rect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000" dirty="0"/>
                  <a:t>Store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83ED8EEC-BE34-442B-83BC-85362903FC4B}"/>
                  </a:ext>
                </a:extLst>
              </p:cNvPr>
              <p:cNvSpPr/>
              <p:nvPr/>
            </p:nvSpPr>
            <p:spPr>
              <a:xfrm>
                <a:off x="4995499" y="3903989"/>
                <a:ext cx="357386" cy="525655"/>
              </a:xfrm>
              <a:prstGeom prst="rect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000" dirty="0"/>
                  <a:t>Load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D848776C-A12D-4C04-801E-3C16E471652D}"/>
                  </a:ext>
                </a:extLst>
              </p:cNvPr>
              <p:cNvSpPr/>
              <p:nvPr/>
            </p:nvSpPr>
            <p:spPr>
              <a:xfrm>
                <a:off x="5397687" y="3900949"/>
                <a:ext cx="360392" cy="525655"/>
              </a:xfrm>
              <a:prstGeom prst="rect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000" dirty="0"/>
                  <a:t>Store</a:t>
                </a:r>
              </a:p>
            </p:txBody>
          </p:sp>
          <p:sp>
            <p:nvSpPr>
              <p:cNvPr id="266" name="Rectangle 265">
                <a:extLst>
                  <a:ext uri="{FF2B5EF4-FFF2-40B4-BE49-F238E27FC236}">
                    <a16:creationId xmlns:a16="http://schemas.microsoft.com/office/drawing/2014/main" id="{9BC19EC6-7E69-4ACE-9A33-5CC895EDB37D}"/>
                  </a:ext>
                </a:extLst>
              </p:cNvPr>
              <p:cNvSpPr/>
              <p:nvPr/>
            </p:nvSpPr>
            <p:spPr>
              <a:xfrm>
                <a:off x="1163211" y="3913181"/>
                <a:ext cx="349581" cy="525654"/>
              </a:xfrm>
              <a:prstGeom prst="rect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000" dirty="0"/>
                  <a:t>FP store data</a:t>
                </a:r>
              </a:p>
            </p:txBody>
          </p:sp>
          <p:sp>
            <p:nvSpPr>
              <p:cNvPr id="269" name="Rectangle 268">
                <a:extLst>
                  <a:ext uri="{FF2B5EF4-FFF2-40B4-BE49-F238E27FC236}">
                    <a16:creationId xmlns:a16="http://schemas.microsoft.com/office/drawing/2014/main" id="{0776480A-5A92-4461-AC2A-976AD4A4C53A}"/>
                  </a:ext>
                </a:extLst>
              </p:cNvPr>
              <p:cNvSpPr/>
              <p:nvPr/>
            </p:nvSpPr>
            <p:spPr>
              <a:xfrm>
                <a:off x="1561577" y="3914730"/>
                <a:ext cx="338570" cy="525654"/>
              </a:xfrm>
              <a:prstGeom prst="rect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000" dirty="0"/>
                  <a:t>FP exec</a:t>
                </a:r>
              </a:p>
            </p:txBody>
          </p:sp>
          <p:sp>
            <p:nvSpPr>
              <p:cNvPr id="271" name="Rectangle 270">
                <a:extLst>
                  <a:ext uri="{FF2B5EF4-FFF2-40B4-BE49-F238E27FC236}">
                    <a16:creationId xmlns:a16="http://schemas.microsoft.com/office/drawing/2014/main" id="{3F81E9DF-5C8C-48E6-A5CF-FAC8F864C071}"/>
                  </a:ext>
                </a:extLst>
              </p:cNvPr>
              <p:cNvSpPr/>
              <p:nvPr/>
            </p:nvSpPr>
            <p:spPr>
              <a:xfrm>
                <a:off x="2848874" y="3901351"/>
                <a:ext cx="361741" cy="529291"/>
              </a:xfrm>
              <a:prstGeom prst="rect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800" dirty="0"/>
                  <a:t>Integer multi-cycle</a:t>
                </a:r>
              </a:p>
            </p:txBody>
          </p:sp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16826D03-0E0F-4779-80A8-41E9BDFB145B}"/>
                  </a:ext>
                </a:extLst>
              </p:cNvPr>
              <p:cNvSpPr/>
              <p:nvPr/>
            </p:nvSpPr>
            <p:spPr>
              <a:xfrm>
                <a:off x="1953401" y="3911707"/>
                <a:ext cx="387515" cy="525655"/>
              </a:xfrm>
              <a:prstGeom prst="rect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800" dirty="0"/>
                  <a:t>ALU, branch, flag </a:t>
                </a:r>
                <a:r>
                  <a:rPr lang="en-US" sz="800" dirty="0" err="1"/>
                  <a:t>rd</a:t>
                </a:r>
                <a:r>
                  <a:rPr lang="en-US" sz="800" dirty="0"/>
                  <a:t>/</a:t>
                </a:r>
                <a:r>
                  <a:rPr lang="en-US" sz="800" dirty="0" err="1"/>
                  <a:t>wr</a:t>
                </a:r>
                <a:endParaRPr lang="en-US" sz="800" dirty="0"/>
              </a:p>
            </p:txBody>
          </p:sp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B1AE09B2-0B47-475F-BBDE-EDADBAF508D6}"/>
                  </a:ext>
                </a:extLst>
              </p:cNvPr>
              <p:cNvSpPr/>
              <p:nvPr/>
            </p:nvSpPr>
            <p:spPr>
              <a:xfrm>
                <a:off x="2405571" y="3903170"/>
                <a:ext cx="387515" cy="525655"/>
              </a:xfrm>
              <a:prstGeom prst="rect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800" dirty="0"/>
                  <a:t>ALU, complex shifts</a:t>
                </a:r>
              </a:p>
            </p:txBody>
          </p:sp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69028A72-5FF4-41D0-B5E3-088CFBA8AEB5}"/>
                  </a:ext>
                </a:extLst>
              </p:cNvPr>
              <p:cNvSpPr/>
              <p:nvPr/>
            </p:nvSpPr>
            <p:spPr>
              <a:xfrm>
                <a:off x="3709184" y="3903171"/>
                <a:ext cx="387515" cy="525655"/>
              </a:xfrm>
              <a:prstGeom prst="rect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800" dirty="0"/>
                  <a:t>ALU, branch, flag </a:t>
                </a:r>
                <a:r>
                  <a:rPr lang="en-US" sz="800" dirty="0" err="1"/>
                  <a:t>rd</a:t>
                </a:r>
                <a:r>
                  <a:rPr lang="en-US" sz="800" dirty="0"/>
                  <a:t>/</a:t>
                </a:r>
                <a:r>
                  <a:rPr lang="en-US" sz="800" dirty="0" err="1"/>
                  <a:t>wr</a:t>
                </a:r>
                <a:endParaRPr lang="en-US" sz="800" dirty="0"/>
              </a:p>
            </p:txBody>
          </p:sp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F85EB2AA-543A-4C89-A818-461AD8D05976}"/>
                  </a:ext>
                </a:extLst>
              </p:cNvPr>
              <p:cNvSpPr/>
              <p:nvPr/>
            </p:nvSpPr>
            <p:spPr>
              <a:xfrm>
                <a:off x="3266404" y="3909867"/>
                <a:ext cx="387515" cy="525655"/>
              </a:xfrm>
              <a:prstGeom prst="rect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800" dirty="0"/>
                  <a:t>ALU, complex shifts</a:t>
                </a:r>
              </a:p>
            </p:txBody>
          </p:sp>
        </p:grp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985383C7-5A7B-4029-85E2-5AFF1CA59513}"/>
                </a:ext>
              </a:extLst>
            </p:cNvPr>
            <p:cNvGrpSpPr/>
            <p:nvPr/>
          </p:nvGrpSpPr>
          <p:grpSpPr>
            <a:xfrm>
              <a:off x="728331" y="2934582"/>
              <a:ext cx="5065362" cy="761903"/>
              <a:chOff x="728331" y="2934582"/>
              <a:chExt cx="5065362" cy="761903"/>
            </a:xfrm>
          </p:grpSpPr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FB9DBED1-11D3-430C-82EF-6CF20AF3447B}"/>
                  </a:ext>
                </a:extLst>
              </p:cNvPr>
              <p:cNvSpPr/>
              <p:nvPr/>
            </p:nvSpPr>
            <p:spPr>
              <a:xfrm>
                <a:off x="728331" y="2934582"/>
                <a:ext cx="5065362" cy="761903"/>
              </a:xfrm>
              <a:prstGeom prst="rect">
                <a:avLst/>
              </a:prstGeom>
              <a:solidFill>
                <a:srgbClr val="C00000">
                  <a:alpha val="50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r>
                  <a:rPr lang="en-US" sz="1013" dirty="0">
                    <a:solidFill>
                      <a:schemeClr val="tx1"/>
                    </a:solidFill>
                  </a:rPr>
                  <a:t>220 scheduler entries total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596BD35A-7551-4CD9-896D-0B255781A6DD}"/>
                  </a:ext>
                </a:extLst>
              </p:cNvPr>
              <p:cNvSpPr/>
              <p:nvPr/>
            </p:nvSpPr>
            <p:spPr>
              <a:xfrm>
                <a:off x="774898" y="3159014"/>
                <a:ext cx="526364" cy="433807"/>
              </a:xfrm>
              <a:prstGeom prst="rect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900" dirty="0"/>
                  <a:t>FP X scheduler</a:t>
                </a:r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FE384304-5AC1-4A1F-959A-0A60E2F82FD4}"/>
                  </a:ext>
                </a:extLst>
              </p:cNvPr>
              <p:cNvSpPr/>
              <p:nvPr/>
            </p:nvSpPr>
            <p:spPr>
              <a:xfrm>
                <a:off x="1343538" y="3160239"/>
                <a:ext cx="526364" cy="433807"/>
              </a:xfrm>
              <a:prstGeom prst="rect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900" dirty="0"/>
                  <a:t>FP Y scheduler</a:t>
                </a:r>
              </a:p>
            </p:txBody>
          </p:sp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F40DC4A6-0831-4BD4-A145-A39DB1ACF813}"/>
                  </a:ext>
                </a:extLst>
              </p:cNvPr>
              <p:cNvSpPr/>
              <p:nvPr/>
            </p:nvSpPr>
            <p:spPr>
              <a:xfrm>
                <a:off x="1939869" y="3162614"/>
                <a:ext cx="507815" cy="433807"/>
              </a:xfrm>
              <a:prstGeom prst="rect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900" dirty="0"/>
                  <a:t>Integer A0 scheduler</a:t>
                </a:r>
              </a:p>
            </p:txBody>
          </p:sp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4357A55C-D8D5-4A32-82AC-B10325BCB73C}"/>
                  </a:ext>
                </a:extLst>
              </p:cNvPr>
              <p:cNvSpPr/>
              <p:nvPr/>
            </p:nvSpPr>
            <p:spPr>
              <a:xfrm>
                <a:off x="2486667" y="3160589"/>
                <a:ext cx="507815" cy="433807"/>
              </a:xfrm>
              <a:prstGeom prst="rect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900" dirty="0"/>
                  <a:t>Integer B0 scheduler</a:t>
                </a:r>
              </a:p>
            </p:txBody>
          </p:sp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5D132AA4-C6F4-4399-87DA-FC16A889717C}"/>
                  </a:ext>
                </a:extLst>
              </p:cNvPr>
              <p:cNvSpPr/>
              <p:nvPr/>
            </p:nvSpPr>
            <p:spPr>
              <a:xfrm>
                <a:off x="3037070" y="3160238"/>
                <a:ext cx="507815" cy="433807"/>
              </a:xfrm>
              <a:prstGeom prst="rect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900" dirty="0"/>
                  <a:t>Integer B1 scheduler</a:t>
                </a:r>
              </a:p>
            </p:txBody>
          </p:sp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931C204D-733B-4CF3-A89B-87D38D153F7B}"/>
                  </a:ext>
                </a:extLst>
              </p:cNvPr>
              <p:cNvSpPr/>
              <p:nvPr/>
            </p:nvSpPr>
            <p:spPr>
              <a:xfrm>
                <a:off x="3589719" y="3158443"/>
                <a:ext cx="507815" cy="433807"/>
              </a:xfrm>
              <a:prstGeom prst="rect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900" dirty="0"/>
                  <a:t>Integer A1 scheduler</a:t>
                </a:r>
              </a:p>
            </p:txBody>
          </p:sp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EEB53B3F-8C16-44C2-BE67-E850763331B7}"/>
                  </a:ext>
                </a:extLst>
              </p:cNvPr>
              <p:cNvSpPr/>
              <p:nvPr/>
            </p:nvSpPr>
            <p:spPr>
              <a:xfrm>
                <a:off x="4991808" y="3160238"/>
                <a:ext cx="768702" cy="433807"/>
              </a:xfrm>
              <a:prstGeom prst="rect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Memory scheduler 1</a:t>
                </a:r>
              </a:p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(1 </a:t>
                </a:r>
                <a:r>
                  <a:rPr kumimoji="0" lang="en-US" sz="7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ld</a:t>
                </a:r>
                <a:r>
                  <a:rPr kumimoji="0" lang="en-US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+ 1 </a:t>
                </a:r>
                <a:r>
                  <a:rPr kumimoji="0" lang="en-US" sz="7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st</a:t>
                </a:r>
                <a:r>
                  <a:rPr kumimoji="0" lang="en-US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/ cycle)</a:t>
                </a:r>
              </a:p>
            </p:txBody>
          </p:sp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8C05EC88-A615-419D-A2BC-3BEF7C9771C5}"/>
                  </a:ext>
                </a:extLst>
              </p:cNvPr>
              <p:cNvSpPr/>
              <p:nvPr/>
            </p:nvSpPr>
            <p:spPr>
              <a:xfrm>
                <a:off x="4182385" y="3160920"/>
                <a:ext cx="768702" cy="433807"/>
              </a:xfrm>
              <a:prstGeom prst="rect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900" dirty="0"/>
                  <a:t>Memory scheduler 0</a:t>
                </a:r>
              </a:p>
              <a:p>
                <a:pPr algn="ctr"/>
                <a:r>
                  <a:rPr lang="en-US" sz="700" dirty="0"/>
                  <a:t>(1 </a:t>
                </a:r>
                <a:r>
                  <a:rPr lang="en-US" sz="700" dirty="0" err="1"/>
                  <a:t>ld</a:t>
                </a:r>
                <a:r>
                  <a:rPr lang="en-US" sz="700" dirty="0"/>
                  <a:t> + 1 </a:t>
                </a:r>
                <a:r>
                  <a:rPr lang="en-US" sz="700" dirty="0" err="1"/>
                  <a:t>st</a:t>
                </a:r>
                <a:r>
                  <a:rPr lang="en-US" sz="700" dirty="0"/>
                  <a:t> / cycle)</a:t>
                </a:r>
              </a:p>
            </p:txBody>
          </p:sp>
        </p:grp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585C6F50-CD82-40D5-8AAC-D0CCF311AEAA}"/>
                </a:ext>
              </a:extLst>
            </p:cNvPr>
            <p:cNvCxnSpPr>
              <a:cxnSpLocks/>
              <a:stCxn id="73" idx="2"/>
              <a:endCxn id="271" idx="0"/>
            </p:cNvCxnSpPr>
            <p:nvPr/>
          </p:nvCxnSpPr>
          <p:spPr>
            <a:xfrm flipH="1">
              <a:off x="3029745" y="3594045"/>
              <a:ext cx="261233" cy="30730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A58FB7CF-D25D-4969-AB09-38D9667A1AA7}"/>
                </a:ext>
              </a:extLst>
            </p:cNvPr>
            <p:cNvCxnSpPr>
              <a:stCxn id="72" idx="2"/>
              <a:endCxn id="271" idx="0"/>
            </p:cNvCxnSpPr>
            <p:nvPr/>
          </p:nvCxnSpPr>
          <p:spPr>
            <a:xfrm>
              <a:off x="2740575" y="3594396"/>
              <a:ext cx="289170" cy="30695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C2A865C9-A57D-4DC8-8A02-6DEFD58A57C9}"/>
                </a:ext>
              </a:extLst>
            </p:cNvPr>
            <p:cNvCxnSpPr>
              <a:cxnSpLocks/>
            </p:cNvCxnSpPr>
            <p:nvPr/>
          </p:nvCxnSpPr>
          <p:spPr>
            <a:xfrm>
              <a:off x="4772003" y="3585389"/>
              <a:ext cx="0" cy="32362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7BCFCF22-71C2-4CE2-8EE8-FBB2CCA5F4CC}"/>
                </a:ext>
              </a:extLst>
            </p:cNvPr>
            <p:cNvCxnSpPr>
              <a:stCxn id="15" idx="2"/>
            </p:cNvCxnSpPr>
            <p:nvPr/>
          </p:nvCxnSpPr>
          <p:spPr>
            <a:xfrm>
              <a:off x="4357960" y="4434668"/>
              <a:ext cx="0" cy="40978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60680C06-2D74-44F9-A09C-A56B9AEE1D54}"/>
                </a:ext>
              </a:extLst>
            </p:cNvPr>
            <p:cNvCxnSpPr>
              <a:stCxn id="17" idx="2"/>
            </p:cNvCxnSpPr>
            <p:nvPr/>
          </p:nvCxnSpPr>
          <p:spPr>
            <a:xfrm flipH="1">
              <a:off x="5168178" y="4429644"/>
              <a:ext cx="6014" cy="41480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E8D569D2-A628-46A5-849C-956C3B68CEAA}"/>
                </a:ext>
              </a:extLst>
            </p:cNvPr>
            <p:cNvCxnSpPr>
              <a:cxnSpLocks/>
            </p:cNvCxnSpPr>
            <p:nvPr/>
          </p:nvCxnSpPr>
          <p:spPr>
            <a:xfrm>
              <a:off x="5582907" y="4426604"/>
              <a:ext cx="0" cy="21861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AB99D18E-B66D-420A-8D19-8D752605C652}"/>
                </a:ext>
              </a:extLst>
            </p:cNvPr>
            <p:cNvCxnSpPr>
              <a:cxnSpLocks/>
            </p:cNvCxnSpPr>
            <p:nvPr/>
          </p:nvCxnSpPr>
          <p:spPr>
            <a:xfrm>
              <a:off x="3460403" y="4446524"/>
              <a:ext cx="0" cy="19869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977F1D94-ED25-4D25-97E4-6AFAEC127DB9}"/>
                </a:ext>
              </a:extLst>
            </p:cNvPr>
            <p:cNvCxnSpPr>
              <a:cxnSpLocks/>
              <a:stCxn id="271" idx="2"/>
            </p:cNvCxnSpPr>
            <p:nvPr/>
          </p:nvCxnSpPr>
          <p:spPr>
            <a:xfrm>
              <a:off x="3029745" y="4430642"/>
              <a:ext cx="0" cy="22042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D3041B5-22FB-47DC-8143-20D16D2E94D5}"/>
                </a:ext>
              </a:extLst>
            </p:cNvPr>
            <p:cNvCxnSpPr/>
            <p:nvPr/>
          </p:nvCxnSpPr>
          <p:spPr>
            <a:xfrm flipH="1">
              <a:off x="943776" y="4645222"/>
              <a:ext cx="4634107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CFA1CE70-2A3D-4F9E-B506-96F83A0DA894}"/>
                </a:ext>
              </a:extLst>
            </p:cNvPr>
            <p:cNvCxnSpPr/>
            <p:nvPr/>
          </p:nvCxnSpPr>
          <p:spPr>
            <a:xfrm>
              <a:off x="1902164" y="4648816"/>
              <a:ext cx="0" cy="67104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C8687094-2793-A44F-162B-E617A113E3D8}"/>
              </a:ext>
            </a:extLst>
          </p:cNvPr>
          <p:cNvSpPr/>
          <p:nvPr/>
        </p:nvSpPr>
        <p:spPr>
          <a:xfrm>
            <a:off x="3616156" y="2300589"/>
            <a:ext cx="1167393" cy="367343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13" dirty="0"/>
              <a:t>Unified MMU </a:t>
            </a:r>
          </a:p>
          <a:p>
            <a:pPr algn="ctr"/>
            <a:r>
              <a:rPr lang="en-US" sz="788" dirty="0"/>
              <a:t>L2 TLB 2.5K entries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EA2BAF4-B96B-5035-E325-A0E3499E69E9}"/>
              </a:ext>
            </a:extLst>
          </p:cNvPr>
          <p:cNvCxnSpPr>
            <a:cxnSpLocks/>
            <a:stCxn id="23" idx="0"/>
            <a:endCxn id="5" idx="2"/>
          </p:cNvCxnSpPr>
          <p:nvPr/>
        </p:nvCxnSpPr>
        <p:spPr>
          <a:xfrm flipV="1">
            <a:off x="4199853" y="2114508"/>
            <a:ext cx="8313" cy="18608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: Elbow 203">
            <a:extLst>
              <a:ext uri="{FF2B5EF4-FFF2-40B4-BE49-F238E27FC236}">
                <a16:creationId xmlns:a16="http://schemas.microsoft.com/office/drawing/2014/main" id="{12B5D7AC-98EB-C041-8BDD-09560EB034F5}"/>
              </a:ext>
            </a:extLst>
          </p:cNvPr>
          <p:cNvCxnSpPr>
            <a:cxnSpLocks/>
            <a:stCxn id="168" idx="3"/>
            <a:endCxn id="23" idx="3"/>
          </p:cNvCxnSpPr>
          <p:nvPr/>
        </p:nvCxnSpPr>
        <p:spPr>
          <a:xfrm flipH="1" flipV="1">
            <a:off x="4783549" y="2484261"/>
            <a:ext cx="993055" cy="3162821"/>
          </a:xfrm>
          <a:prstGeom prst="bentConnector3">
            <a:avLst>
              <a:gd name="adj1" fmla="val -45621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49D72990-8336-F116-563F-34439384B2A6}"/>
              </a:ext>
            </a:extLst>
          </p:cNvPr>
          <p:cNvSpPr/>
          <p:nvPr/>
        </p:nvSpPr>
        <p:spPr>
          <a:xfrm>
            <a:off x="1948055" y="4667819"/>
            <a:ext cx="630087" cy="458543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48-entry </a:t>
            </a:r>
          </a:p>
          <a:p>
            <a:pPr algn="ctr"/>
            <a:r>
              <a:rPr lang="en-US" sz="800" dirty="0"/>
              <a:t>predicate register file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CB216BE-841E-D405-D3C5-D0B1CEFBEB00}"/>
              </a:ext>
            </a:extLst>
          </p:cNvPr>
          <p:cNvSpPr/>
          <p:nvPr/>
        </p:nvSpPr>
        <p:spPr>
          <a:xfrm>
            <a:off x="3265271" y="1132700"/>
            <a:ext cx="1885771" cy="199388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13" dirty="0"/>
              <a:t>1MB L3 shared cache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9AB93C4-57C7-6078-911C-35DA1142E522}"/>
              </a:ext>
            </a:extLst>
          </p:cNvPr>
          <p:cNvSpPr txBox="1"/>
          <p:nvPr/>
        </p:nvSpPr>
        <p:spPr>
          <a:xfrm>
            <a:off x="5215209" y="1190396"/>
            <a:ext cx="6303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Adjustable</a:t>
            </a:r>
          </a:p>
          <a:p>
            <a:r>
              <a:rPr lang="en-US" sz="800" dirty="0"/>
              <a:t>partition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033E81C-D61A-F022-9498-1530ACDD7743}"/>
              </a:ext>
            </a:extLst>
          </p:cNvPr>
          <p:cNvCxnSpPr>
            <a:cxnSpLocks/>
          </p:cNvCxnSpPr>
          <p:nvPr/>
        </p:nvCxnSpPr>
        <p:spPr>
          <a:xfrm flipV="1">
            <a:off x="5241326" y="1147920"/>
            <a:ext cx="0" cy="39463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53442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19512</TotalTime>
  <Words>160</Words>
  <Application>Microsoft Office PowerPoint</Application>
  <PresentationFormat>Letter Paper (8.5x11 in)</PresentationFormat>
  <Paragraphs>49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Wingdings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Ben Chaffin</dc:creator>
  <cp:lastModifiedBy>Ben Chaffin</cp:lastModifiedBy>
  <cp:revision>26</cp:revision>
  <dcterms:created xsi:type="dcterms:W3CDTF">2021-09-02T17:43:09Z</dcterms:created>
  <dcterms:modified xsi:type="dcterms:W3CDTF">2026-03-06T22:12:25Z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b82cb1d-c2e0-4643-920a-bbe7b2d7cc47_Enabled">
    <vt:lpwstr>true</vt:lpwstr>
  </property>
  <property fmtid="{D5CDD505-2E9C-101B-9397-08002B2CF9AE}" pid="3" name="MSIP_Label_5b82cb1d-c2e0-4643-920a-bbe7b2d7cc47_SetDate">
    <vt:lpwstr>2023-05-31T22:15:35Z</vt:lpwstr>
  </property>
  <property fmtid="{D5CDD505-2E9C-101B-9397-08002B2CF9AE}" pid="4" name="MSIP_Label_5b82cb1d-c2e0-4643-920a-bbe7b2d7cc47_Method">
    <vt:lpwstr>Standard</vt:lpwstr>
  </property>
  <property fmtid="{D5CDD505-2E9C-101B-9397-08002B2CF9AE}" pid="5" name="MSIP_Label_5b82cb1d-c2e0-4643-920a-bbe7b2d7cc47_Name">
    <vt:lpwstr>Confidential (Default)</vt:lpwstr>
  </property>
  <property fmtid="{D5CDD505-2E9C-101B-9397-08002B2CF9AE}" pid="6" name="MSIP_Label_5b82cb1d-c2e0-4643-920a-bbe7b2d7cc47_SiteId">
    <vt:lpwstr>3bc2b170-fd94-476d-b0ce-4229bdc904a7</vt:lpwstr>
  </property>
  <property fmtid="{D5CDD505-2E9C-101B-9397-08002B2CF9AE}" pid="7" name="MSIP_Label_5b82cb1d-c2e0-4643-920a-bbe7b2d7cc47_ActionId">
    <vt:lpwstr>9a7102c7-7649-4537-9331-2461a0a2c493</vt:lpwstr>
  </property>
  <property fmtid="{D5CDD505-2E9C-101B-9397-08002B2CF9AE}" pid="8" name="MSIP_Label_5b82cb1d-c2e0-4643-920a-bbe7b2d7cc47_ContentBits">
    <vt:lpwstr>0</vt:lpwstr>
  </property>
</Properties>
</file>